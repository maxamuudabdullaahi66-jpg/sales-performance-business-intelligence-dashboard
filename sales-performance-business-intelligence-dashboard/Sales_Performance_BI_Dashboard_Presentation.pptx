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Sales Performance &amp; Business Intelligence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Portfolio Project — Data Analytics /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Objective: turn retail transaction data into actionable business intelligence.</a:t>
            </a:r>
          </a:p>
          <a:p>
            <a:pPr>
              <a:spcAft>
                <a:spcPts val="1200"/>
              </a:spcAft>
              <a:defRPr sz="2000"/>
            </a:pPr>
            <a:r>
              <a:t>Workflow: data preparation → EDA → SQL → KPI design → dashboard → business recommendations.</a:t>
            </a:r>
          </a:p>
          <a:p>
            <a:pPr>
              <a:spcAft>
                <a:spcPts val="1200"/>
              </a:spcAft>
              <a:defRPr sz="2000"/>
            </a:pPr>
            <a:r>
              <a:t>Dataset: 6,000 synthetic retail orders covering 2023–2025.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20574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64646"/>
                </a:solidFill>
              </a:defRPr>
            </a:pPr>
            <a:r>
              <a:t>Total Sales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$3,238,406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360" y="1554480"/>
            <a:ext cx="20574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64646"/>
                </a:solidFill>
              </a:defRPr>
            </a:pPr>
            <a:r>
              <a:t>Total Profit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$558,777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554480"/>
            <a:ext cx="20574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64646"/>
                </a:solidFill>
              </a:defRPr>
            </a:pPr>
            <a:r>
              <a:t>Profit Margin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17.3%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1554480"/>
            <a:ext cx="20574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64646"/>
                </a:solidFill>
              </a:defRPr>
            </a:pPr>
            <a:r>
              <a:t>Orders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6,000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554480"/>
            <a:ext cx="20574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64646"/>
                </a:solidFill>
              </a:defRPr>
            </a:pPr>
            <a:r>
              <a:t>Customers</a:t>
            </a:r>
          </a:p>
          <a:p>
            <a:pPr algn="ctr">
              <a:defRPr sz="2300" b="1">
                <a:solidFill>
                  <a:srgbClr val="1F4E79"/>
                </a:solidFill>
              </a:defRPr>
            </a:pPr>
            <a:r>
              <a:t>1,191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Average Order Value: $539.73</a:t>
            </a:r>
          </a:p>
          <a:p>
            <a:pPr>
              <a:spcAft>
                <a:spcPts val="1200"/>
              </a:spcAft>
              <a:defRPr sz="1700"/>
            </a:pPr>
            <a:r>
              <a:t>Top sales category: Technology</a:t>
            </a:r>
          </a:p>
          <a:p>
            <a:pPr>
              <a:spcAft>
                <a:spcPts val="1200"/>
              </a:spcAft>
              <a:defRPr sz="1700"/>
            </a:pPr>
            <a:r>
              <a:t>Highest-sales region: East</a:t>
            </a:r>
          </a:p>
          <a:p>
            <a:pPr>
              <a:spcAft>
                <a:spcPts val="1200"/>
              </a:spcAft>
              <a:defRPr sz="1700"/>
            </a:pPr>
            <a:r>
              <a:t>Dashboard focus: revenue, profitability, trends, categories, regions, products and discounts.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Data Description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6,000 synthetic retail transactions.</a:t>
            </a:r>
          </a:p>
          <a:p>
            <a:pPr>
              <a:spcAft>
                <a:spcPts val="1200"/>
              </a:spcAft>
              <a:defRPr sz="1800"/>
            </a:pPr>
            <a:r>
              <a:t>Fields include Order ID, Order Date, Region, Segment, Category, Sub-Category, Product, Quantity, Unit Price, Discount, Sales, Profit and Customer ID.</a:t>
            </a:r>
          </a:p>
          <a:p>
            <a:pPr>
              <a:spcAft>
                <a:spcPts val="1200"/>
              </a:spcAft>
              <a:defRPr sz="1800"/>
            </a:pPr>
            <a:r>
              <a:t>Methodology: clean and validate data → explore patterns → answer business questions with SQL → define KPIs → design Power BI dashboard → interpret results.</a:t>
            </a:r>
          </a:p>
          <a:p>
            <a:pPr>
              <a:spcAft>
                <a:spcPts val="1200"/>
              </a:spcAft>
              <a:defRPr sz="1800"/>
            </a:pPr>
            <a:r>
              <a:t>Synthetic data is clearly labeled for portfolio and learning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Key Business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What are total sales, profit, orders and profit margin?</a:t>
            </a:r>
          </a:p>
          <a:p>
            <a:pPr>
              <a:spcAft>
                <a:spcPts val="1200"/>
              </a:spcAft>
              <a:defRPr sz="1900"/>
            </a:pPr>
            <a:r>
              <a:t>Which categories generate the most sales and profit?</a:t>
            </a:r>
          </a:p>
          <a:p>
            <a:pPr>
              <a:spcAft>
                <a:spcPts val="1200"/>
              </a:spcAft>
              <a:defRPr sz="1900"/>
            </a:pPr>
            <a:r>
              <a:t>Which regions perform strongly on revenue and profitability?</a:t>
            </a:r>
          </a:p>
          <a:p>
            <a:pPr>
              <a:spcAft>
                <a:spcPts val="1200"/>
              </a:spcAft>
              <a:defRPr sz="1900"/>
            </a:pPr>
            <a:r>
              <a:t>How does sales performance change over time?</a:t>
            </a:r>
          </a:p>
          <a:p>
            <a:pPr>
              <a:spcAft>
                <a:spcPts val="1200"/>
              </a:spcAft>
              <a:defRPr sz="1900"/>
            </a:pPr>
            <a:r>
              <a:t>Which products are top performers?</a:t>
            </a:r>
          </a:p>
          <a:p>
            <a:pPr>
              <a:spcAft>
                <a:spcPts val="1200"/>
              </a:spcAft>
              <a:defRPr sz="1900"/>
            </a:pPr>
            <a:r>
              <a:t>How do discount levels relate to profitability?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Category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554480"/>
            <a:ext cx="6858000" cy="3657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150876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$1,608,799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Furniture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331720"/>
            <a:ext cx="5139663" cy="3657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74303" y="228600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$1,205,699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39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Office Supplies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108959"/>
            <a:ext cx="1807038" cy="36576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1678" y="3063239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$423,908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Regional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417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Sales: $925,138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417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Profit: $160,700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377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Sales: $883,947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Profit: $152,549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337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Sales: $763,269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375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Profit: $130,564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South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2976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Sales: $666,052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976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Profit: $114,963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Top 5 Products by Sales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102412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3413760"/>
                <a:gridCol w="3413760"/>
              </a:tblGrid>
              <a:tr h="5791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Keyboard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$192,788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$39,156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$191,736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$38,893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Headset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$186,757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$38,390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Monitor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$186,384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$38,082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Desktop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$182,640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/>
                      </a:pPr>
                      <a:r>
                        <a:t>$37,137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Power BI Dashboard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Top KPI cards: Sales, Profit, Profit Margin and Orders.</a:t>
            </a:r>
          </a:p>
          <a:p>
            <a:pPr>
              <a:spcAft>
                <a:spcPts val="1200"/>
              </a:spcAft>
              <a:defRPr sz="1800"/>
            </a:pPr>
            <a:r>
              <a:t>Monthly sales trend for performance over time.</a:t>
            </a:r>
          </a:p>
          <a:p>
            <a:pPr>
              <a:spcAft>
                <a:spcPts val="1200"/>
              </a:spcAft>
              <a:defRPr sz="1800"/>
            </a:pPr>
            <a:r>
              <a:t>Category comparison for revenue and profitability.</a:t>
            </a:r>
          </a:p>
          <a:p>
            <a:pPr>
              <a:spcAft>
                <a:spcPts val="1200"/>
              </a:spcAft>
              <a:defRPr sz="1800"/>
            </a:pPr>
            <a:r>
              <a:t>Regional performance using both Sales and Profit.</a:t>
            </a:r>
          </a:p>
          <a:p>
            <a:pPr>
              <a:spcAft>
                <a:spcPts val="1200"/>
              </a:spcAft>
              <a:defRPr sz="1800"/>
            </a:pPr>
            <a:r>
              <a:t>Top-products table with drill-down detail.</a:t>
            </a:r>
          </a:p>
          <a:p>
            <a:pPr>
              <a:spcAft>
                <a:spcPts val="1200"/>
              </a:spcAft>
              <a:defRPr sz="1800"/>
            </a:pPr>
            <a:r>
              <a:t>Slicers: Date, Region, Segment and Category.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Total KPI calculation.</a:t>
            </a:r>
          </a:p>
          <a:p>
            <a:pPr>
              <a:spcAft>
                <a:spcPts val="1200"/>
              </a:spcAft>
              <a:defRPr sz="1800"/>
            </a:pPr>
            <a:r>
              <a:t>Sales and profit by region.</a:t>
            </a:r>
          </a:p>
          <a:p>
            <a:pPr>
              <a:spcAft>
                <a:spcPts val="1200"/>
              </a:spcAft>
              <a:defRPr sz="1800"/>
            </a:pPr>
            <a:r>
              <a:t>Sales and profit by category.</a:t>
            </a:r>
          </a:p>
          <a:p>
            <a:pPr>
              <a:spcAft>
                <a:spcPts val="1200"/>
              </a:spcAft>
              <a:defRPr sz="1800"/>
            </a:pPr>
            <a:r>
              <a:t>Monthly sales and profit trends.</a:t>
            </a:r>
          </a:p>
          <a:p>
            <a:pPr>
              <a:spcAft>
                <a:spcPts val="1200"/>
              </a:spcAft>
              <a:defRPr sz="1800"/>
            </a:pPr>
            <a:r>
              <a:t>Top products by sales.</a:t>
            </a:r>
          </a:p>
          <a:p>
            <a:pPr>
              <a:spcAft>
                <a:spcPts val="1200"/>
              </a:spcAft>
              <a:defRPr sz="1800"/>
            </a:pPr>
            <a:r>
              <a:t>Discount versus profitability.</a:t>
            </a:r>
          </a:p>
          <a:p>
            <a:pPr>
              <a:spcAft>
                <a:spcPts val="1200"/>
              </a:spcAft>
              <a:defRPr sz="1800"/>
            </a:pPr>
            <a:r>
              <a:t>Window-function ranking for monthly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Business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Technology is the largest sales category in the synthetic dataset.</a:t>
            </a:r>
          </a:p>
          <a:p>
            <a:pPr>
              <a:spcAft>
                <a:spcPts val="1200"/>
              </a:spcAft>
              <a:defRPr sz="1800"/>
            </a:pPr>
            <a:r>
              <a:t>Regional performance differs across sales and profit, so both metrics should be monitored.</a:t>
            </a:r>
          </a:p>
          <a:p>
            <a:pPr>
              <a:spcAft>
                <a:spcPts val="1200"/>
              </a:spcAft>
              <a:defRPr sz="1800"/>
            </a:pPr>
            <a:r>
              <a:t>Monthly trend analysis supports identification of stronger and weaker periods.</a:t>
            </a:r>
          </a:p>
          <a:p>
            <a:pPr>
              <a:spcAft>
                <a:spcPts val="1200"/>
              </a:spcAft>
              <a:defRPr sz="1800"/>
            </a:pPr>
            <a:r>
              <a:t>Discounting should be evaluated alongside profit margin rather than sales volume alone.</a:t>
            </a:r>
          </a:p>
          <a:p>
            <a:pPr>
              <a:spcAft>
                <a:spcPts val="1200"/>
              </a:spcAft>
              <a:defRPr sz="1800"/>
            </a:pPr>
            <a:r>
              <a:t>Top-product analysis can guide inventory, promotion and assortment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Monitor profit margin alongside revenue.</a:t>
            </a:r>
          </a:p>
          <a:p>
            <a:pPr>
              <a:spcAft>
                <a:spcPts val="1200"/>
              </a:spcAft>
              <a:defRPr sz="1800"/>
            </a:pPr>
            <a:r>
              <a:t>Investigate products with high sales but weak profit.</a:t>
            </a:r>
          </a:p>
          <a:p>
            <a:pPr>
              <a:spcAft>
                <a:spcPts val="1200"/>
              </a:spcAft>
              <a:defRPr sz="1800"/>
            </a:pPr>
            <a:r>
              <a:t>Compare regions using both sales and profitability.</a:t>
            </a:r>
          </a:p>
          <a:p>
            <a:pPr>
              <a:spcAft>
                <a:spcPts val="1200"/>
              </a:spcAft>
              <a:defRPr sz="1800"/>
            </a:pPr>
            <a:r>
              <a:t>Use monthly trends to support inventory and campaign planning.</a:t>
            </a:r>
          </a:p>
          <a:p>
            <a:pPr>
              <a:spcAft>
                <a:spcPts val="1200"/>
              </a:spcAft>
              <a:defRPr sz="1800"/>
            </a:pPr>
            <a:r>
              <a:t>Review discount levels and their relationship with profit.</a:t>
            </a:r>
          </a:p>
          <a:p>
            <a:pPr>
              <a:spcAft>
                <a:spcPts val="1200"/>
              </a:spcAft>
              <a:defRPr sz="1800"/>
            </a:pPr>
            <a:r>
              <a:t>Future enhancement: add customer retention and cohort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Portfolio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sales_data_synthetic.csv — dataset</a:t>
            </a:r>
          </a:p>
          <a:p>
            <a:pPr>
              <a:spcAft>
                <a:spcPts val="1200"/>
              </a:spcAft>
              <a:defRPr sz="1800"/>
            </a:pPr>
            <a:r>
              <a:t>sales_analysis.py — Python analysis</a:t>
            </a:r>
          </a:p>
          <a:p>
            <a:pPr>
              <a:spcAft>
                <a:spcPts val="1200"/>
              </a:spcAft>
              <a:defRPr sz="1800"/>
            </a:pPr>
            <a:r>
              <a:t>sales_analysis.sql — SQL business queries</a:t>
            </a:r>
          </a:p>
          <a:p>
            <a:pPr>
              <a:spcAft>
                <a:spcPts val="1200"/>
              </a:spcAft>
              <a:defRPr sz="1800"/>
            </a:pPr>
            <a:r>
              <a:t>visuals/ — EDA charts</a:t>
            </a:r>
          </a:p>
          <a:p>
            <a:pPr>
              <a:spcAft>
                <a:spcPts val="1200"/>
              </a:spcAft>
              <a:defRPr sz="1800"/>
            </a:pPr>
            <a:r>
              <a:t>Sales_Performance_BI_Report.pdf — full project report</a:t>
            </a:r>
          </a:p>
          <a:p>
            <a:pPr>
              <a:spcAft>
                <a:spcPts val="1200"/>
              </a:spcAft>
              <a:defRPr sz="1800"/>
            </a:pPr>
            <a:r>
              <a:t>README.md — GitHub documentation</a:t>
            </a:r>
          </a:p>
          <a:p>
            <a:pPr>
              <a:spcAft>
                <a:spcPts val="1200"/>
              </a:spcAft>
              <a:defRPr sz="1800"/>
            </a:pPr>
            <a:r>
              <a:t>Power BI dashboard specification — ready for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